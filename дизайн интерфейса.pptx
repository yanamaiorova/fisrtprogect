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58" r:id="rId3"/>
    <p:sldId id="259" r:id="rId4"/>
    <p:sldId id="257" r:id="rId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chenike" initials="M" lastIdx="0" clrIdx="0">
    <p:extLst>
      <p:ext uri="{19B8F6BF-5375-455C-9EA6-DF929625EA0E}">
        <p15:presenceInfo xmlns:p15="http://schemas.microsoft.com/office/powerpoint/2012/main" userId="Machenike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255" autoAdjust="0"/>
    <p:restoredTop sz="94660"/>
  </p:normalViewPr>
  <p:slideViewPr>
    <p:cSldViewPr snapToGrid="0">
      <p:cViewPr>
        <p:scale>
          <a:sx n="75" d="100"/>
          <a:sy n="75" d="100"/>
        </p:scale>
        <p:origin x="1552" y="6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commentAuthors" Target="commentAuthor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0DACA2-1603-4638-84CA-A1D1843735F2}" type="datetimeFigureOut">
              <a:rPr lang="ru-RU" smtClean="0"/>
              <a:t>17.04.2026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900909-EDA8-49FA-9BDC-4A1CCEC13C4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170570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7DE2DC-0B0B-4049-8CCA-C9EEB5D00375}" type="datetimeFigureOut">
              <a:rPr lang="ru-RU" smtClean="0"/>
              <a:t>17.04.2026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AFD85-7983-440A-9E18-22CCD204327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671035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7DE2DC-0B0B-4049-8CCA-C9EEB5D00375}" type="datetimeFigureOut">
              <a:rPr lang="ru-RU" smtClean="0"/>
              <a:t>17.04.2026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AFD85-7983-440A-9E18-22CCD204327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34295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7DE2DC-0B0B-4049-8CCA-C9EEB5D00375}" type="datetimeFigureOut">
              <a:rPr lang="ru-RU" smtClean="0"/>
              <a:t>17.04.2026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AFD85-7983-440A-9E18-22CCD204327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164863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7DE2DC-0B0B-4049-8CCA-C9EEB5D00375}" type="datetimeFigureOut">
              <a:rPr lang="ru-RU" smtClean="0"/>
              <a:t>17.04.2026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AFD85-7983-440A-9E18-22CCD204327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532727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7DE2DC-0B0B-4049-8CCA-C9EEB5D00375}" type="datetimeFigureOut">
              <a:rPr lang="ru-RU" smtClean="0"/>
              <a:t>17.04.2026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AFD85-7983-440A-9E18-22CCD204327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709460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7DE2DC-0B0B-4049-8CCA-C9EEB5D00375}" type="datetimeFigureOut">
              <a:rPr lang="ru-RU" smtClean="0"/>
              <a:t>17.04.2026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AFD85-7983-440A-9E18-22CCD204327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255660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7DE2DC-0B0B-4049-8CCA-C9EEB5D00375}" type="datetimeFigureOut">
              <a:rPr lang="ru-RU" smtClean="0"/>
              <a:t>17.04.2026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AFD85-7983-440A-9E18-22CCD204327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53895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7DE2DC-0B0B-4049-8CCA-C9EEB5D00375}" type="datetimeFigureOut">
              <a:rPr lang="ru-RU" smtClean="0"/>
              <a:t>17.04.2026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AFD85-7983-440A-9E18-22CCD204327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823004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7DE2DC-0B0B-4049-8CCA-C9EEB5D00375}" type="datetimeFigureOut">
              <a:rPr lang="ru-RU" smtClean="0"/>
              <a:t>17.04.2026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AFD85-7983-440A-9E18-22CCD204327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769854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7DE2DC-0B0B-4049-8CCA-C9EEB5D00375}" type="datetimeFigureOut">
              <a:rPr lang="ru-RU" smtClean="0"/>
              <a:t>17.04.2026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AFD85-7983-440A-9E18-22CCD204327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967159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7DE2DC-0B0B-4049-8CCA-C9EEB5D00375}" type="datetimeFigureOut">
              <a:rPr lang="ru-RU" smtClean="0"/>
              <a:t>17.04.2026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AFD85-7983-440A-9E18-22CCD204327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968694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7DE2DC-0B0B-4049-8CCA-C9EEB5D00375}" type="datetimeFigureOut">
              <a:rPr lang="ru-RU" smtClean="0"/>
              <a:t>17.04.2026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3AFD85-7983-440A-9E18-22CCD204327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616609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microsoft.com/office/2007/relationships/hdphoto" Target="../media/hdphoto3.wdp"/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microsoft.com/office/2007/relationships/hdphoto" Target="../media/hdphoto2.wdp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microsoft.com/office/2007/relationships/hdphoto" Target="../media/hdphoto4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0" y="0"/>
            <a:ext cx="12192000" cy="185650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0" y="0"/>
            <a:ext cx="12192000" cy="48491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0" y="1856509"/>
            <a:ext cx="12192000" cy="500149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Прямоугольник 7"/>
          <p:cNvSpPr/>
          <p:nvPr/>
        </p:nvSpPr>
        <p:spPr>
          <a:xfrm>
            <a:off x="0" y="6054436"/>
            <a:ext cx="12192000" cy="80356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Скругленный прямоугольник 8"/>
          <p:cNvSpPr/>
          <p:nvPr/>
        </p:nvSpPr>
        <p:spPr>
          <a:xfrm>
            <a:off x="235527" y="2175164"/>
            <a:ext cx="3546764" cy="955963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Скругленный прямоугольник 9"/>
          <p:cNvSpPr/>
          <p:nvPr/>
        </p:nvSpPr>
        <p:spPr>
          <a:xfrm>
            <a:off x="4322618" y="2175163"/>
            <a:ext cx="3546764" cy="955963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Скругленный прямоугольник 10"/>
          <p:cNvSpPr/>
          <p:nvPr/>
        </p:nvSpPr>
        <p:spPr>
          <a:xfrm>
            <a:off x="8409709" y="2175163"/>
            <a:ext cx="3546764" cy="955963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Скругленный прямоугольник 11"/>
          <p:cNvSpPr/>
          <p:nvPr/>
        </p:nvSpPr>
        <p:spPr>
          <a:xfrm>
            <a:off x="235527" y="3477491"/>
            <a:ext cx="3546764" cy="2327564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Скругленный прямоугольник 13"/>
          <p:cNvSpPr/>
          <p:nvPr/>
        </p:nvSpPr>
        <p:spPr>
          <a:xfrm>
            <a:off x="4322618" y="3477491"/>
            <a:ext cx="3546764" cy="2327564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Скругленный прямоугольник 14"/>
          <p:cNvSpPr/>
          <p:nvPr/>
        </p:nvSpPr>
        <p:spPr>
          <a:xfrm>
            <a:off x="8409709" y="3463636"/>
            <a:ext cx="3546764" cy="2327564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TextBox 15"/>
          <p:cNvSpPr txBox="1"/>
          <p:nvPr/>
        </p:nvSpPr>
        <p:spPr>
          <a:xfrm>
            <a:off x="3519055" y="90239"/>
            <a:ext cx="62206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Курсы</a:t>
            </a:r>
            <a:r>
              <a:rPr lang="ru-RU" dirty="0" smtClean="0">
                <a:solidFill>
                  <a:schemeClr val="bg1">
                    <a:lumMod val="75000"/>
                  </a:schemeClr>
                </a:solidFill>
              </a:rPr>
              <a:t>		  Мои курсы		помощь</a:t>
            </a:r>
            <a:endParaRPr lang="ru-RU" dirty="0">
              <a:solidFill>
                <a:schemeClr val="bg1">
                  <a:lumMod val="75000"/>
                </a:schemeClr>
              </a:solidFill>
            </a:endParaRPr>
          </a:p>
        </p:txBody>
      </p:sp>
      <p:pic>
        <p:nvPicPr>
          <p:cNvPr id="18" name="Рисунок 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527" y="2223561"/>
            <a:ext cx="859166" cy="859166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330220" y="2270329"/>
            <a:ext cx="1896673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Активных курсов </a:t>
            </a:r>
          </a:p>
          <a:p>
            <a:r>
              <a:rPr lang="ru-RU" sz="2400" b="1" dirty="0"/>
              <a:t>4</a:t>
            </a:r>
          </a:p>
        </p:txBody>
      </p:sp>
      <p:pic>
        <p:nvPicPr>
          <p:cNvPr id="20" name="Рисунок 19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0" b="100000" l="0" r="100000">
                        <a14:foregroundMark x1="25204" y1="71633" x2="82551" y2="18061"/>
                        <a14:foregroundMark x1="43878" y1="20102" x2="50714" y2="26939"/>
                        <a14:foregroundMark x1="50000" y1="20816" x2="50000" y2="20816"/>
                        <a14:foregroundMark x1="48980" y1="17245" x2="15816" y2="50408"/>
                        <a14:foregroundMark x1="19388" y1="44694" x2="22551" y2="34082"/>
                        <a14:foregroundMark x1="22653" y1="34184" x2="32959" y2="24388"/>
                        <a14:foregroundMark x1="50612" y1="19184" x2="66735" y2="23061"/>
                        <a14:foregroundMark x1="49898" y1="49796" x2="50000" y2="29592"/>
                        <a14:foregroundMark x1="70918" y1="28878" x2="79694" y2="41327"/>
                        <a14:foregroundMark x1="79082" y1="58061" x2="80000" y2="43265"/>
                        <a14:foregroundMark x1="79796" y1="58878" x2="67959" y2="75714"/>
                        <a14:foregroundMark x1="68571" y1="74694" x2="50918" y2="80612"/>
                        <a14:foregroundMark x1="52653" y1="81122" x2="34694" y2="77857"/>
                        <a14:foregroundMark x1="34694" y1="77857" x2="18878" y2="53776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404713" y="2283812"/>
            <a:ext cx="738663" cy="738663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417311" y="2344063"/>
            <a:ext cx="1725601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Часов </a:t>
            </a:r>
            <a:r>
              <a:rPr lang="ru-RU" dirty="0" err="1" smtClean="0"/>
              <a:t>изученно</a:t>
            </a:r>
            <a:endParaRPr lang="ru-RU" dirty="0"/>
          </a:p>
          <a:p>
            <a:r>
              <a:rPr lang="ru-RU" sz="2400" b="1" dirty="0" smtClean="0"/>
              <a:t>10.5</a:t>
            </a:r>
            <a:endParaRPr lang="ru-RU" sz="2400" b="1" dirty="0"/>
          </a:p>
        </p:txBody>
      </p:sp>
      <p:pic>
        <p:nvPicPr>
          <p:cNvPr id="22" name="Рисунок 21"/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0" b="100000" l="0" r="99694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534492" y="2230489"/>
            <a:ext cx="859166" cy="859166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9518441" y="2297668"/>
            <a:ext cx="1562992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Сертификатов</a:t>
            </a:r>
          </a:p>
          <a:p>
            <a:r>
              <a:rPr lang="ru-RU" sz="2400" b="1" dirty="0"/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2227" y="3131124"/>
            <a:ext cx="20463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Популярные курсы</a:t>
            </a:r>
            <a:endParaRPr lang="ru-RU" dirty="0"/>
          </a:p>
        </p:txBody>
      </p:sp>
      <p:sp>
        <p:nvSpPr>
          <p:cNvPr id="25" name="TextBox 24"/>
          <p:cNvSpPr txBox="1"/>
          <p:nvPr/>
        </p:nvSpPr>
        <p:spPr>
          <a:xfrm>
            <a:off x="373889" y="3548853"/>
            <a:ext cx="3408402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/>
              <a:t> </a:t>
            </a:r>
            <a:r>
              <a:rPr lang="ru-RU" sz="2000" b="1" dirty="0" smtClean="0"/>
              <a:t>            Основы </a:t>
            </a:r>
            <a:r>
              <a:rPr lang="en-US" sz="2000" b="1" dirty="0" smtClean="0"/>
              <a:t>Python</a:t>
            </a:r>
          </a:p>
          <a:p>
            <a:endParaRPr lang="en-US" dirty="0"/>
          </a:p>
          <a:p>
            <a:r>
              <a:rPr lang="ru-RU" dirty="0"/>
              <a:t>Изучите синтаксис, типы данных и основы алгоритмов на самом популярном языке программирования.</a:t>
            </a:r>
          </a:p>
        </p:txBody>
      </p:sp>
      <p:sp>
        <p:nvSpPr>
          <p:cNvPr id="26" name="Скругленный прямоугольник 25"/>
          <p:cNvSpPr/>
          <p:nvPr/>
        </p:nvSpPr>
        <p:spPr>
          <a:xfrm>
            <a:off x="1565098" y="5399415"/>
            <a:ext cx="900546" cy="33255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7" name="Прямоугольник 26"/>
          <p:cNvSpPr/>
          <p:nvPr/>
        </p:nvSpPr>
        <p:spPr>
          <a:xfrm>
            <a:off x="4404713" y="3583533"/>
            <a:ext cx="3769469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b="1" dirty="0" smtClean="0"/>
              <a:t>   </a:t>
            </a:r>
            <a:r>
              <a:rPr lang="ru-RU" sz="2000" b="1" dirty="0" err="1" smtClean="0"/>
              <a:t>Python</a:t>
            </a:r>
            <a:r>
              <a:rPr lang="ru-RU" sz="2000" b="1" dirty="0" smtClean="0"/>
              <a:t> для школьников</a:t>
            </a:r>
          </a:p>
          <a:p>
            <a:endParaRPr lang="ru-RU" sz="2000" b="1" dirty="0"/>
          </a:p>
          <a:p>
            <a:r>
              <a:rPr lang="ru-RU" dirty="0" smtClean="0"/>
              <a:t>Курс для школьников: основы </a:t>
            </a:r>
            <a:r>
              <a:rPr lang="ru-RU" dirty="0" err="1" smtClean="0"/>
              <a:t>Python</a:t>
            </a:r>
            <a:r>
              <a:rPr lang="ru-RU" dirty="0" smtClean="0"/>
              <a:t> в увлекательной форме, много практических задач, адаптирован под возраст.</a:t>
            </a:r>
            <a:endParaRPr lang="ru-RU" sz="1600" dirty="0"/>
          </a:p>
        </p:txBody>
      </p:sp>
      <p:sp>
        <p:nvSpPr>
          <p:cNvPr id="28" name="Овал 27"/>
          <p:cNvSpPr/>
          <p:nvPr/>
        </p:nvSpPr>
        <p:spPr>
          <a:xfrm>
            <a:off x="11755749" y="57788"/>
            <a:ext cx="401448" cy="36933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9" name="TextBox 28"/>
          <p:cNvSpPr txBox="1"/>
          <p:nvPr/>
        </p:nvSpPr>
        <p:spPr>
          <a:xfrm>
            <a:off x="422789" y="810079"/>
            <a:ext cx="3981924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 smtClean="0">
                <a:solidFill>
                  <a:schemeClr val="bg1"/>
                </a:solidFill>
              </a:rPr>
              <a:t>Добро пожаловать, Пользователь!</a:t>
            </a:r>
          </a:p>
          <a:p>
            <a:r>
              <a:rPr lang="ru-RU" sz="1600" dirty="0" smtClean="0">
                <a:solidFill>
                  <a:schemeClr val="bg1"/>
                </a:solidFill>
              </a:rPr>
              <a:t>Продолжайте свое обучение вместе с нами</a:t>
            </a:r>
            <a:endParaRPr lang="ru-RU" sz="1600" dirty="0">
              <a:solidFill>
                <a:schemeClr val="bg1"/>
              </a:solidFill>
            </a:endParaRPr>
          </a:p>
        </p:txBody>
      </p:sp>
      <p:pic>
        <p:nvPicPr>
          <p:cNvPr id="30" name="Рисунок 29"/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0" b="99365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354971" y="178517"/>
            <a:ext cx="365975" cy="192137"/>
          </a:xfrm>
          <a:prstGeom prst="rect">
            <a:avLst/>
          </a:prstGeom>
        </p:spPr>
      </p:pic>
      <p:sp>
        <p:nvSpPr>
          <p:cNvPr id="31" name="Скругленный прямоугольник 30"/>
          <p:cNvSpPr/>
          <p:nvPr/>
        </p:nvSpPr>
        <p:spPr>
          <a:xfrm>
            <a:off x="5645727" y="5413228"/>
            <a:ext cx="900546" cy="33255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3" name="Прямоугольник 32"/>
          <p:cNvSpPr/>
          <p:nvPr/>
        </p:nvSpPr>
        <p:spPr>
          <a:xfrm>
            <a:off x="8409709" y="3548853"/>
            <a:ext cx="3546764" cy="19082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 smtClean="0"/>
              <a:t>Как упростить жизнь с помощью </a:t>
            </a:r>
            <a:r>
              <a:rPr lang="ru-RU" b="1" dirty="0" err="1" smtClean="0"/>
              <a:t>нейросетей</a:t>
            </a:r>
            <a:endParaRPr lang="ru-RU" b="1" dirty="0" smtClean="0"/>
          </a:p>
          <a:p>
            <a:endParaRPr lang="ru-RU" dirty="0"/>
          </a:p>
          <a:p>
            <a:r>
              <a:rPr lang="ru-RU" sz="1600" dirty="0" smtClean="0"/>
              <a:t>Бесплатный курс: что такое </a:t>
            </a:r>
            <a:r>
              <a:rPr lang="ru-RU" sz="1600" dirty="0" err="1" smtClean="0"/>
              <a:t>нейросети</a:t>
            </a:r>
            <a:r>
              <a:rPr lang="ru-RU" sz="1600" dirty="0" smtClean="0"/>
              <a:t>, их применение в быту и работе, создание текстов и картинок с помощью ИИ.</a:t>
            </a:r>
            <a:endParaRPr lang="ru-RU" sz="1600" dirty="0"/>
          </a:p>
        </p:txBody>
      </p:sp>
      <p:sp>
        <p:nvSpPr>
          <p:cNvPr id="34" name="Скругленный прямоугольник 33"/>
          <p:cNvSpPr/>
          <p:nvPr/>
        </p:nvSpPr>
        <p:spPr>
          <a:xfrm>
            <a:off x="9739746" y="5403031"/>
            <a:ext cx="900546" cy="33255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5" name="TextBox 34"/>
          <p:cNvSpPr txBox="1"/>
          <p:nvPr/>
        </p:nvSpPr>
        <p:spPr>
          <a:xfrm flipH="1">
            <a:off x="1565098" y="5375748"/>
            <a:ext cx="12550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начать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6" name="Прямоугольник 35"/>
          <p:cNvSpPr/>
          <p:nvPr/>
        </p:nvSpPr>
        <p:spPr>
          <a:xfrm>
            <a:off x="5677808" y="5375748"/>
            <a:ext cx="8363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начать</a:t>
            </a:r>
            <a:endParaRPr lang="ru-RU" dirty="0"/>
          </a:p>
        </p:txBody>
      </p:sp>
      <p:sp>
        <p:nvSpPr>
          <p:cNvPr id="37" name="Прямоугольник 36"/>
          <p:cNvSpPr/>
          <p:nvPr/>
        </p:nvSpPr>
        <p:spPr>
          <a:xfrm>
            <a:off x="9764899" y="5362635"/>
            <a:ext cx="8363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начать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704817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0" y="0"/>
            <a:ext cx="12192000" cy="185650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0" y="0"/>
            <a:ext cx="12192000" cy="48491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0" y="484909"/>
            <a:ext cx="12192000" cy="637309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TextBox 15"/>
          <p:cNvSpPr txBox="1"/>
          <p:nvPr/>
        </p:nvSpPr>
        <p:spPr>
          <a:xfrm>
            <a:off x="3519055" y="90239"/>
            <a:ext cx="62206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>
                <a:solidFill>
                  <a:schemeClr val="bg1">
                    <a:lumMod val="75000"/>
                  </a:schemeClr>
                </a:solidFill>
              </a:rPr>
              <a:t>Курсы</a:t>
            </a:r>
            <a:r>
              <a:rPr lang="ru-RU" dirty="0" smtClean="0">
                <a:solidFill>
                  <a:schemeClr val="bg1">
                    <a:lumMod val="85000"/>
                  </a:schemeClr>
                </a:solidFill>
              </a:rPr>
              <a:t>		</a:t>
            </a:r>
            <a:r>
              <a:rPr lang="ru-RU" dirty="0" smtClean="0">
                <a:solidFill>
                  <a:schemeClr val="bg1">
                    <a:lumMod val="75000"/>
                  </a:schemeClr>
                </a:solidFill>
              </a:rPr>
              <a:t>  </a:t>
            </a:r>
            <a:r>
              <a:rPr lang="ru-RU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Мои курсы</a:t>
            </a:r>
            <a:r>
              <a:rPr lang="ru-RU" dirty="0" smtClean="0">
                <a:solidFill>
                  <a:schemeClr val="bg1">
                    <a:lumMod val="75000"/>
                  </a:schemeClr>
                </a:solidFill>
              </a:rPr>
              <a:t>		помощь</a:t>
            </a:r>
            <a:endParaRPr lang="ru-RU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28" name="Овал 27"/>
          <p:cNvSpPr/>
          <p:nvPr/>
        </p:nvSpPr>
        <p:spPr>
          <a:xfrm>
            <a:off x="11755749" y="57788"/>
            <a:ext cx="401448" cy="36933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31" name="Рисунок 3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63913" y="113347"/>
            <a:ext cx="491836" cy="258214"/>
          </a:xfrm>
          <a:prstGeom prst="rect">
            <a:avLst/>
          </a:prstGeom>
        </p:spPr>
      </p:pic>
      <p:cxnSp>
        <p:nvCxnSpPr>
          <p:cNvPr id="12" name="Прямая соединительная линия 11"/>
          <p:cNvCxnSpPr/>
          <p:nvPr/>
        </p:nvCxnSpPr>
        <p:spPr>
          <a:xfrm>
            <a:off x="0" y="1227667"/>
            <a:ext cx="12157197" cy="16934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 flipH="1">
            <a:off x="282786" y="615759"/>
            <a:ext cx="91660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Активные курсы 		</a:t>
            </a:r>
            <a:r>
              <a:rPr lang="ru-RU" sz="2400" dirty="0" smtClean="0">
                <a:solidFill>
                  <a:schemeClr val="bg1">
                    <a:lumMod val="75000"/>
                  </a:schemeClr>
                </a:solidFill>
              </a:rPr>
              <a:t>законченные курсы</a:t>
            </a:r>
            <a:endParaRPr lang="ru-RU" sz="24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8" name="Прямоугольник 17"/>
          <p:cNvSpPr/>
          <p:nvPr/>
        </p:nvSpPr>
        <p:spPr>
          <a:xfrm>
            <a:off x="282787" y="1608667"/>
            <a:ext cx="3527214" cy="483446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2" name="Прямоугольник 51"/>
          <p:cNvSpPr/>
          <p:nvPr/>
        </p:nvSpPr>
        <p:spPr>
          <a:xfrm>
            <a:off x="4397587" y="1608667"/>
            <a:ext cx="3527214" cy="483446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TextBox 18"/>
          <p:cNvSpPr txBox="1"/>
          <p:nvPr/>
        </p:nvSpPr>
        <p:spPr>
          <a:xfrm flipH="1">
            <a:off x="430106" y="1820181"/>
            <a:ext cx="3252894" cy="30777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Продвинутый </a:t>
            </a:r>
            <a:r>
              <a:rPr lang="en-US" b="1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Python</a:t>
            </a:r>
            <a:endParaRPr lang="ru-RU" b="1" dirty="0" smtClean="0">
              <a:solidFill>
                <a:schemeClr val="accent5">
                  <a:lumMod val="60000"/>
                  <a:lumOff val="40000"/>
                </a:schemeClr>
              </a:solidFill>
            </a:endParaRPr>
          </a:p>
          <a:p>
            <a:endParaRPr lang="ru-RU" dirty="0" smtClean="0"/>
          </a:p>
          <a:p>
            <a:r>
              <a:rPr lang="ru-RU" sz="1400" dirty="0" smtClean="0"/>
              <a:t>Курс «Продвинутый </a:t>
            </a:r>
            <a:r>
              <a:rPr lang="ru-RU" sz="1400" dirty="0" err="1" smtClean="0"/>
              <a:t>Python</a:t>
            </a:r>
            <a:r>
              <a:rPr lang="ru-RU" sz="1400" dirty="0" smtClean="0"/>
              <a:t>» предназначен для тех, кто уже знаком с основами языка и хочет углубить свои знания, освоить сложные структуры данных, современные техники программирования и лучшие практики разработки. Такие курсы подходят как школьникам, студентам, так и взрослым, а также преподавателям, желающим повысить квалификацию.</a:t>
            </a:r>
          </a:p>
          <a:p>
            <a:endParaRPr lang="ru-RU" dirty="0"/>
          </a:p>
        </p:txBody>
      </p:sp>
      <p:sp>
        <p:nvSpPr>
          <p:cNvPr id="20" name="TextBox 19"/>
          <p:cNvSpPr txBox="1"/>
          <p:nvPr/>
        </p:nvSpPr>
        <p:spPr>
          <a:xfrm>
            <a:off x="4504268" y="1744857"/>
            <a:ext cx="3285066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Веб-разработка на </a:t>
            </a:r>
            <a:r>
              <a:rPr lang="en-US" b="1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Django</a:t>
            </a:r>
            <a:endParaRPr lang="ru-RU" b="1" dirty="0" smtClean="0">
              <a:solidFill>
                <a:schemeClr val="accent5">
                  <a:lumMod val="60000"/>
                  <a:lumOff val="40000"/>
                </a:schemeClr>
              </a:solidFill>
            </a:endParaRPr>
          </a:p>
          <a:p>
            <a:endParaRPr lang="ru-RU" dirty="0" smtClean="0"/>
          </a:p>
          <a:p>
            <a:r>
              <a:rPr lang="ru-RU" sz="1400" dirty="0" smtClean="0"/>
              <a:t>Курс «Веб-разработка на </a:t>
            </a:r>
            <a:r>
              <a:rPr lang="ru-RU" sz="1400" dirty="0" err="1" smtClean="0"/>
              <a:t>Django</a:t>
            </a:r>
            <a:r>
              <a:rPr lang="ru-RU" sz="1400" dirty="0" smtClean="0"/>
              <a:t>» — это интенсивная программа, рассчитанная примерно на 3 месяца, в течение которых вы научитесь проектировать и разрабатывать серверные веб-приложения на </a:t>
            </a:r>
            <a:r>
              <a:rPr lang="ru-RU" sz="1400" dirty="0" err="1" smtClean="0"/>
              <a:t>Python</a:t>
            </a:r>
            <a:r>
              <a:rPr lang="ru-RU" sz="1400" dirty="0" smtClean="0"/>
              <a:t> с использованием </a:t>
            </a:r>
            <a:r>
              <a:rPr lang="ru-RU" sz="1400" dirty="0" err="1" smtClean="0"/>
              <a:t>фреймворка</a:t>
            </a:r>
            <a:r>
              <a:rPr lang="ru-RU" sz="1400" dirty="0" smtClean="0"/>
              <a:t> </a:t>
            </a:r>
            <a:r>
              <a:rPr lang="ru-RU" sz="1400" dirty="0" err="1" smtClean="0"/>
              <a:t>Django</a:t>
            </a:r>
            <a:r>
              <a:rPr lang="ru-RU" sz="1400" dirty="0" smtClean="0"/>
              <a:t>. Курс подходит для школьников, студентов колледжей и техникумов в возрасте от 13 до 20 лет, уже имеющих базовые знания </a:t>
            </a:r>
            <a:r>
              <a:rPr lang="ru-RU" sz="1400" dirty="0" err="1" smtClean="0"/>
              <a:t>Python</a:t>
            </a:r>
            <a:r>
              <a:rPr lang="ru-RU" sz="1400" dirty="0" smtClean="0"/>
              <a:t>, работы с модулями и пакетами, а также понимание баз данных и HTTP-запросов. Желательно иметь начальные навыки работы с </a:t>
            </a:r>
            <a:r>
              <a:rPr lang="ru-RU" sz="1400" dirty="0" err="1" smtClean="0"/>
              <a:t>Git</a:t>
            </a:r>
            <a:r>
              <a:rPr lang="ru-RU" sz="1400" dirty="0" smtClean="0"/>
              <a:t>.</a:t>
            </a:r>
            <a:endParaRPr lang="ru-RU" sz="1400" dirty="0" smtClean="0"/>
          </a:p>
          <a:p>
            <a:endParaRPr lang="ru-RU" dirty="0"/>
          </a:p>
        </p:txBody>
      </p:sp>
      <p:sp>
        <p:nvSpPr>
          <p:cNvPr id="24" name="Скругленный прямоугольник 23"/>
          <p:cNvSpPr/>
          <p:nvPr/>
        </p:nvSpPr>
        <p:spPr>
          <a:xfrm>
            <a:off x="1837267" y="5899841"/>
            <a:ext cx="1845733" cy="39935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3" name="Скругленный прямоугольник 52"/>
          <p:cNvSpPr/>
          <p:nvPr/>
        </p:nvSpPr>
        <p:spPr>
          <a:xfrm>
            <a:off x="5943601" y="5915348"/>
            <a:ext cx="1845733" cy="39935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TextBox 24"/>
          <p:cNvSpPr txBox="1"/>
          <p:nvPr/>
        </p:nvSpPr>
        <p:spPr>
          <a:xfrm>
            <a:off x="2046394" y="5915916"/>
            <a:ext cx="29040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П</a:t>
            </a:r>
            <a:r>
              <a:rPr lang="ru-RU" dirty="0" smtClean="0">
                <a:solidFill>
                  <a:schemeClr val="bg1"/>
                </a:solidFill>
              </a:rPr>
              <a:t>родолжить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26" name="Прямоугольник 25"/>
          <p:cNvSpPr/>
          <p:nvPr/>
        </p:nvSpPr>
        <p:spPr>
          <a:xfrm>
            <a:off x="6146801" y="5909504"/>
            <a:ext cx="14092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Продолжить</a:t>
            </a:r>
            <a:endParaRPr lang="ru-RU" dirty="0">
              <a:solidFill>
                <a:schemeClr val="bg1"/>
              </a:solidFill>
            </a:endParaRPr>
          </a:p>
        </p:txBody>
      </p:sp>
      <p:pic>
        <p:nvPicPr>
          <p:cNvPr id="27" name="Рисунок 26"/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0" b="100000" l="0" r="100000">
                        <a14:foregroundMark x1="31773" y1="82278" x2="90640" y2="82911"/>
                        <a14:foregroundMark x1="64286" y1="35443" x2="94828" y2="34810"/>
                        <a14:foregroundMark x1="56650" y1="37342" x2="96182" y2="39241"/>
                        <a14:foregroundMark x1="59606" y1="40506" x2="96798" y2="40506"/>
                        <a14:foregroundMark x1="95936" y1="34177" x2="96429" y2="34177"/>
                        <a14:foregroundMark x1="96798" y1="32278" x2="97537" y2="37975"/>
                        <a14:foregroundMark x1="94458" y1="87975" x2="88916" y2="78481"/>
                        <a14:foregroundMark x1="96675" y1="82278" x2="91010" y2="77848"/>
                        <a14:foregroundMark x1="97044" y1="77848" x2="97291" y2="84177"/>
                        <a14:foregroundMark x1="97291" y1="42405" x2="97537" y2="39873"/>
                        <a14:foregroundMark x1="92857" y1="83544" x2="96798" y2="83544"/>
                        <a14:foregroundMark x1="97660" y1="77848" x2="97906" y2="77848"/>
                        <a14:foregroundMark x1="97783" y1="84810" x2="97783" y2="84810"/>
                        <a14:foregroundMark x1="39409" y1="87975" x2="92488" y2="86076"/>
                        <a14:foregroundMark x1="81034" y1="86709" x2="96798" y2="87975"/>
                        <a14:foregroundMark x1="97783" y1="89241" x2="97783" y2="89241"/>
                        <a14:foregroundMark x1="91995" y1="87975" x2="91995" y2="87975"/>
                        <a14:foregroundMark x1="92611" y1="90506" x2="92611" y2="90506"/>
                        <a14:backgroundMark x1="63300" y1="62025" x2="98522" y2="60127"/>
                        <a14:backgroundMark x1="40887" y1="94937" x2="97906" y2="94304"/>
                        <a14:backgroundMark x1="94335" y1="87975" x2="94458" y2="91139"/>
                        <a14:backgroundMark x1="91872" y1="89241" x2="94828" y2="86709"/>
                        <a14:backgroundMark x1="91626" y1="86076" x2="94335" y2="86709"/>
                      </a14:backgroundRemoval>
                    </a14:imgEffect>
                  </a14:imgLayer>
                </a14:imgProps>
              </a:ext>
            </a:extLst>
          </a:blip>
          <a:srcRect b="39873"/>
          <a:stretch/>
        </p:blipFill>
        <p:spPr>
          <a:xfrm flipV="1">
            <a:off x="430106" y="5495026"/>
            <a:ext cx="3088949" cy="361393"/>
          </a:xfrm>
          <a:prstGeom prst="rect">
            <a:avLst/>
          </a:prstGeom>
        </p:spPr>
      </p:pic>
      <p:pic>
        <p:nvPicPr>
          <p:cNvPr id="54" name="Рисунок 53"/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0" b="100000" l="0" r="100000">
                        <a14:foregroundMark x1="31773" y1="82278" x2="90640" y2="82911"/>
                        <a14:foregroundMark x1="64286" y1="35443" x2="94828" y2="34810"/>
                        <a14:foregroundMark x1="56650" y1="37342" x2="96182" y2="39241"/>
                        <a14:foregroundMark x1="59606" y1="40506" x2="96798" y2="40506"/>
                        <a14:foregroundMark x1="95936" y1="34177" x2="96429" y2="34177"/>
                        <a14:foregroundMark x1="96798" y1="32278" x2="97537" y2="37975"/>
                        <a14:foregroundMark x1="94458" y1="87975" x2="88916" y2="78481"/>
                        <a14:foregroundMark x1="96675" y1="82278" x2="91010" y2="77848"/>
                        <a14:foregroundMark x1="97044" y1="77848" x2="97291" y2="84177"/>
                        <a14:foregroundMark x1="97291" y1="42405" x2="97537" y2="39873"/>
                        <a14:foregroundMark x1="92857" y1="83544" x2="96798" y2="83544"/>
                        <a14:foregroundMark x1="97660" y1="77848" x2="97906" y2="77848"/>
                        <a14:foregroundMark x1="97783" y1="84810" x2="97783" y2="84810"/>
                        <a14:foregroundMark x1="39409" y1="87975" x2="92488" y2="86076"/>
                        <a14:foregroundMark x1="81034" y1="86709" x2="96798" y2="87975"/>
                        <a14:foregroundMark x1="97783" y1="89241" x2="97783" y2="89241"/>
                        <a14:foregroundMark x1="91995" y1="87975" x2="91995" y2="87975"/>
                        <a14:foregroundMark x1="92611" y1="90506" x2="92611" y2="90506"/>
                        <a14:backgroundMark x1="63300" y1="62025" x2="98522" y2="60127"/>
                        <a14:backgroundMark x1="40887" y1="94937" x2="97906" y2="94304"/>
                        <a14:backgroundMark x1="94335" y1="87975" x2="94458" y2="91139"/>
                        <a14:backgroundMark x1="91872" y1="89241" x2="94828" y2="86709"/>
                        <a14:backgroundMark x1="91626" y1="86076" x2="94335" y2="86709"/>
                      </a14:backgroundRemoval>
                    </a14:imgEffect>
                  </a14:imgLayer>
                </a14:imgProps>
              </a:ext>
            </a:extLst>
          </a:blip>
          <a:srcRect l="548" t="53529" r="-548" b="-13656"/>
          <a:stretch/>
        </p:blipFill>
        <p:spPr>
          <a:xfrm flipV="1">
            <a:off x="4466253" y="5481753"/>
            <a:ext cx="3349524" cy="391879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374366" y="5946694"/>
            <a:ext cx="143872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dirty="0" smtClean="0">
                <a:solidFill>
                  <a:schemeClr val="bg1">
                    <a:lumMod val="85000"/>
                  </a:schemeClr>
                </a:solidFill>
              </a:rPr>
              <a:t>Прогресс: 60%</a:t>
            </a:r>
            <a:endParaRPr lang="ru-RU" sz="16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30" name="Прямоугольник 29"/>
          <p:cNvSpPr/>
          <p:nvPr/>
        </p:nvSpPr>
        <p:spPr>
          <a:xfrm>
            <a:off x="4371145" y="5929868"/>
            <a:ext cx="15988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solidFill>
                  <a:schemeClr val="bg1">
                    <a:lumMod val="85000"/>
                  </a:schemeClr>
                </a:solidFill>
              </a:rPr>
              <a:t>Прогресс: </a:t>
            </a:r>
            <a:r>
              <a:rPr lang="ru-RU" dirty="0" smtClean="0">
                <a:solidFill>
                  <a:schemeClr val="bg1">
                    <a:lumMod val="85000"/>
                  </a:schemeClr>
                </a:solidFill>
              </a:rPr>
              <a:t>30</a:t>
            </a:r>
            <a:r>
              <a:rPr lang="ru-RU" dirty="0">
                <a:solidFill>
                  <a:schemeClr val="bg1">
                    <a:lumMod val="85000"/>
                  </a:schemeClr>
                </a:solidFill>
              </a:rPr>
              <a:t>%</a:t>
            </a:r>
            <a:endParaRPr lang="ru-RU" dirty="0">
              <a:solidFill>
                <a:schemeClr val="bg1">
                  <a:lumMod val="8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53347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0" y="0"/>
            <a:ext cx="12192000" cy="185650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0" y="0"/>
            <a:ext cx="12192000" cy="48491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0" y="484909"/>
            <a:ext cx="12192000" cy="637309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TextBox 15"/>
          <p:cNvSpPr txBox="1"/>
          <p:nvPr/>
        </p:nvSpPr>
        <p:spPr>
          <a:xfrm>
            <a:off x="3519055" y="90239"/>
            <a:ext cx="62206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>
                <a:solidFill>
                  <a:schemeClr val="bg1">
                    <a:lumMod val="75000"/>
                  </a:schemeClr>
                </a:solidFill>
              </a:rPr>
              <a:t>Курсы</a:t>
            </a:r>
            <a:r>
              <a:rPr lang="ru-RU" dirty="0" smtClean="0">
                <a:solidFill>
                  <a:schemeClr val="bg1">
                    <a:lumMod val="85000"/>
                  </a:schemeClr>
                </a:solidFill>
              </a:rPr>
              <a:t>		</a:t>
            </a:r>
            <a:r>
              <a:rPr lang="ru-RU" dirty="0" smtClean="0">
                <a:solidFill>
                  <a:schemeClr val="bg1">
                    <a:lumMod val="75000"/>
                  </a:schemeClr>
                </a:solidFill>
              </a:rPr>
              <a:t>  Мои курсы		</a:t>
            </a:r>
            <a:r>
              <a:rPr lang="ru-RU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помощь</a:t>
            </a:r>
            <a:endParaRPr lang="ru-RU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8" name="Овал 27"/>
          <p:cNvSpPr/>
          <p:nvPr/>
        </p:nvSpPr>
        <p:spPr>
          <a:xfrm>
            <a:off x="11755749" y="57788"/>
            <a:ext cx="401448" cy="36933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31" name="Рисунок 3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63913" y="113347"/>
            <a:ext cx="491836" cy="258214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750" t="23195" r="36315" b="25819"/>
          <a:stretch/>
        </p:blipFill>
        <p:spPr>
          <a:xfrm>
            <a:off x="998683" y="575149"/>
            <a:ext cx="9762450" cy="5926606"/>
          </a:xfrm>
          <a:prstGeom prst="rect">
            <a:avLst/>
          </a:prstGeom>
        </p:spPr>
      </p:pic>
      <p:sp>
        <p:nvSpPr>
          <p:cNvPr id="10" name="Прямоугольник 9"/>
          <p:cNvSpPr/>
          <p:nvPr/>
        </p:nvSpPr>
        <p:spPr>
          <a:xfrm>
            <a:off x="609600" y="4910667"/>
            <a:ext cx="3107266" cy="194733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060115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0" y="0"/>
            <a:ext cx="12192000" cy="185650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0" y="0"/>
            <a:ext cx="12192000" cy="48491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0" y="484909"/>
            <a:ext cx="12192000" cy="637309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TextBox 15"/>
          <p:cNvSpPr txBox="1"/>
          <p:nvPr/>
        </p:nvSpPr>
        <p:spPr>
          <a:xfrm>
            <a:off x="3519055" y="90239"/>
            <a:ext cx="62206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>
                <a:solidFill>
                  <a:schemeClr val="bg1">
                    <a:lumMod val="75000"/>
                  </a:schemeClr>
                </a:solidFill>
              </a:rPr>
              <a:t>Курсы</a:t>
            </a:r>
            <a:r>
              <a:rPr lang="ru-RU" dirty="0" smtClean="0">
                <a:solidFill>
                  <a:schemeClr val="bg1">
                    <a:lumMod val="85000"/>
                  </a:schemeClr>
                </a:solidFill>
              </a:rPr>
              <a:t>	</a:t>
            </a:r>
            <a:r>
              <a:rPr lang="ru-RU" dirty="0" smtClean="0">
                <a:solidFill>
                  <a:schemeClr val="bg1">
                    <a:lumMod val="75000"/>
                  </a:schemeClr>
                </a:solidFill>
              </a:rPr>
              <a:t>	  Мои курсы		помощь</a:t>
            </a:r>
            <a:endParaRPr lang="ru-RU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28" name="Овал 27"/>
          <p:cNvSpPr/>
          <p:nvPr/>
        </p:nvSpPr>
        <p:spPr>
          <a:xfrm>
            <a:off x="11755749" y="57788"/>
            <a:ext cx="401448" cy="36933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Скругленный прямоугольник 1"/>
          <p:cNvSpPr/>
          <p:nvPr/>
        </p:nvSpPr>
        <p:spPr>
          <a:xfrm>
            <a:off x="374073" y="789709"/>
            <a:ext cx="11499272" cy="2147455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Скругленный прямоугольник 2"/>
          <p:cNvSpPr/>
          <p:nvPr/>
        </p:nvSpPr>
        <p:spPr>
          <a:xfrm>
            <a:off x="374073" y="3241963"/>
            <a:ext cx="3588327" cy="2161309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Скругленный прямоугольник 5"/>
          <p:cNvSpPr/>
          <p:nvPr/>
        </p:nvSpPr>
        <p:spPr>
          <a:xfrm>
            <a:off x="477981" y="5659582"/>
            <a:ext cx="3484419" cy="900545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Скругленный прямоугольник 12"/>
          <p:cNvSpPr/>
          <p:nvPr/>
        </p:nvSpPr>
        <p:spPr>
          <a:xfrm>
            <a:off x="4308764" y="3241964"/>
            <a:ext cx="7564581" cy="1108363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Скругленный прямоугольник 16"/>
          <p:cNvSpPr/>
          <p:nvPr/>
        </p:nvSpPr>
        <p:spPr>
          <a:xfrm flipH="1">
            <a:off x="4336473" y="4655127"/>
            <a:ext cx="7536872" cy="1905000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31" name="Рисунок 3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63913" y="113347"/>
            <a:ext cx="491836" cy="258214"/>
          </a:xfrm>
          <a:prstGeom prst="rect">
            <a:avLst/>
          </a:prstGeom>
        </p:spPr>
      </p:pic>
      <p:sp>
        <p:nvSpPr>
          <p:cNvPr id="32" name="Овал 31"/>
          <p:cNvSpPr/>
          <p:nvPr/>
        </p:nvSpPr>
        <p:spPr>
          <a:xfrm>
            <a:off x="595746" y="1101438"/>
            <a:ext cx="1219200" cy="1219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33" name="Рисунок 3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8584" y="1953490"/>
            <a:ext cx="415635" cy="415635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1910392" y="1101438"/>
            <a:ext cx="943801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 smtClean="0"/>
              <a:t>Пользователь</a:t>
            </a:r>
          </a:p>
          <a:p>
            <a:r>
              <a:rPr lang="ru-RU" dirty="0"/>
              <a:t>Учусь разработке на </a:t>
            </a:r>
            <a:r>
              <a:rPr lang="ru-RU" dirty="0" err="1"/>
              <a:t>Python</a:t>
            </a:r>
            <a:r>
              <a:rPr lang="ru-RU" dirty="0"/>
              <a:t>. Интересуюсь анализом данных и веб-разработкой на </a:t>
            </a:r>
            <a:r>
              <a:rPr lang="ru-RU" dirty="0" err="1"/>
              <a:t>Django</a:t>
            </a:r>
            <a:r>
              <a:rPr lang="ru-RU" dirty="0"/>
              <a:t>. В свободное время пишу пет-проекты и помогаю новичкам в сообществе.</a:t>
            </a:r>
            <a:endParaRPr lang="ru-RU" sz="2800" b="1" dirty="0"/>
          </a:p>
        </p:txBody>
      </p:sp>
      <p:pic>
        <p:nvPicPr>
          <p:cNvPr id="35" name="Рисунок 3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10392" y="2261782"/>
            <a:ext cx="443345" cy="443345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2353737" y="2399207"/>
            <a:ext cx="10702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err="1" smtClean="0"/>
              <a:t>Г.Москва</a:t>
            </a:r>
            <a:endParaRPr lang="ru-RU" dirty="0"/>
          </a:p>
        </p:txBody>
      </p:sp>
      <p:pic>
        <p:nvPicPr>
          <p:cNvPr id="37" name="Рисунок 3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20538" y="2178656"/>
            <a:ext cx="651165" cy="651165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4133704" y="2399207"/>
            <a:ext cx="31495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Дата регистрации 12.09.2025</a:t>
            </a:r>
            <a:endParaRPr lang="ru-RU" dirty="0"/>
          </a:p>
        </p:txBody>
      </p:sp>
      <p:sp>
        <p:nvSpPr>
          <p:cNvPr id="39" name="Скругленный прямоугольник 38"/>
          <p:cNvSpPr/>
          <p:nvPr/>
        </p:nvSpPr>
        <p:spPr>
          <a:xfrm>
            <a:off x="8340436" y="2261782"/>
            <a:ext cx="3311237" cy="50675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0" name="TextBox 39"/>
          <p:cNvSpPr txBox="1"/>
          <p:nvPr/>
        </p:nvSpPr>
        <p:spPr>
          <a:xfrm flipH="1">
            <a:off x="8871066" y="2330494"/>
            <a:ext cx="31131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Редактировать профиль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477981" y="3368510"/>
            <a:ext cx="334082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Статистика обучения</a:t>
            </a:r>
          </a:p>
          <a:p>
            <a:endParaRPr lang="ru-RU" dirty="0"/>
          </a:p>
          <a:p>
            <a:r>
              <a:rPr lang="ru-RU" sz="2000" b="1" dirty="0" smtClean="0"/>
              <a:t>        2                                10.5</a:t>
            </a:r>
            <a:endParaRPr lang="ru-RU" sz="2000" b="1" dirty="0"/>
          </a:p>
        </p:txBody>
      </p:sp>
      <p:sp>
        <p:nvSpPr>
          <p:cNvPr id="42" name="TextBox 41"/>
          <p:cNvSpPr txBox="1"/>
          <p:nvPr/>
        </p:nvSpPr>
        <p:spPr>
          <a:xfrm>
            <a:off x="754578" y="4245353"/>
            <a:ext cx="2840842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Курса	                      Часов</a:t>
            </a:r>
          </a:p>
          <a:p>
            <a:r>
              <a:rPr lang="ru-RU" sz="2000" b="1" dirty="0"/>
              <a:t> </a:t>
            </a:r>
            <a:r>
              <a:rPr lang="ru-RU" sz="2000" b="1" dirty="0" smtClean="0"/>
              <a:t>  2    		       906</a:t>
            </a:r>
            <a:endParaRPr lang="ru-RU" sz="2000" b="1" dirty="0"/>
          </a:p>
        </p:txBody>
      </p:sp>
      <p:sp>
        <p:nvSpPr>
          <p:cNvPr id="43" name="TextBox 42"/>
          <p:cNvSpPr txBox="1"/>
          <p:nvPr/>
        </p:nvSpPr>
        <p:spPr>
          <a:xfrm>
            <a:off x="656092" y="4830128"/>
            <a:ext cx="33390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Сертификатов          Очков опыта</a:t>
            </a:r>
            <a:endParaRPr lang="ru-RU" dirty="0"/>
          </a:p>
        </p:txBody>
      </p:sp>
      <p:sp>
        <p:nvSpPr>
          <p:cNvPr id="44" name="Скругленный прямоугольник 43"/>
          <p:cNvSpPr/>
          <p:nvPr/>
        </p:nvSpPr>
        <p:spPr>
          <a:xfrm>
            <a:off x="4698339" y="5257423"/>
            <a:ext cx="6813140" cy="460122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5" name="Скругленный прямоугольник 44"/>
          <p:cNvSpPr/>
          <p:nvPr/>
        </p:nvSpPr>
        <p:spPr>
          <a:xfrm>
            <a:off x="4684484" y="5869945"/>
            <a:ext cx="6813140" cy="460122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6" name="TextBox 45"/>
          <p:cNvSpPr txBox="1"/>
          <p:nvPr/>
        </p:nvSpPr>
        <p:spPr>
          <a:xfrm>
            <a:off x="4684484" y="4735691"/>
            <a:ext cx="18373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 smtClean="0"/>
              <a:t>Активные курсы</a:t>
            </a:r>
            <a:endParaRPr lang="ru-RU" b="1" dirty="0"/>
          </a:p>
        </p:txBody>
      </p:sp>
      <p:sp>
        <p:nvSpPr>
          <p:cNvPr id="47" name="TextBox 46"/>
          <p:cNvSpPr txBox="1"/>
          <p:nvPr/>
        </p:nvSpPr>
        <p:spPr>
          <a:xfrm>
            <a:off x="4706662" y="5317235"/>
            <a:ext cx="22470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Продвинутый </a:t>
            </a:r>
            <a:r>
              <a:rPr lang="en-US" dirty="0" smtClean="0"/>
              <a:t>Pytho</a:t>
            </a:r>
            <a:r>
              <a:rPr lang="en-US" dirty="0"/>
              <a:t>n</a:t>
            </a:r>
            <a:endParaRPr lang="ru-RU" dirty="0"/>
          </a:p>
        </p:txBody>
      </p:sp>
      <p:sp>
        <p:nvSpPr>
          <p:cNvPr id="48" name="TextBox 47"/>
          <p:cNvSpPr txBox="1"/>
          <p:nvPr/>
        </p:nvSpPr>
        <p:spPr>
          <a:xfrm>
            <a:off x="4627692" y="5925188"/>
            <a:ext cx="27283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Веб-разработка на </a:t>
            </a:r>
            <a:r>
              <a:rPr lang="en-US" dirty="0" smtClean="0"/>
              <a:t>Django</a:t>
            </a:r>
            <a:endParaRPr lang="ru-RU" dirty="0"/>
          </a:p>
        </p:txBody>
      </p:sp>
      <p:pic>
        <p:nvPicPr>
          <p:cNvPr id="49" name="Рисунок 48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770" t="39300" r="59587" b="49336"/>
          <a:stretch/>
        </p:blipFill>
        <p:spPr>
          <a:xfrm>
            <a:off x="6397337" y="3368510"/>
            <a:ext cx="3119195" cy="965888"/>
          </a:xfrm>
          <a:prstGeom prst="rect">
            <a:avLst/>
          </a:prstGeom>
        </p:spPr>
      </p:pic>
      <p:pic>
        <p:nvPicPr>
          <p:cNvPr id="51" name="Рисунок 50"/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801" t="35167" r="47306" b="45529"/>
          <a:stretch/>
        </p:blipFill>
        <p:spPr>
          <a:xfrm>
            <a:off x="621366" y="5674483"/>
            <a:ext cx="3107266" cy="851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3022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</TotalTime>
  <Words>337</Words>
  <Application>Microsoft Office PowerPoint</Application>
  <PresentationFormat>Широкоэкранный</PresentationFormat>
  <Paragraphs>50</Paragraphs>
  <Slides>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Machenike</dc:creator>
  <cp:lastModifiedBy>Machenike</cp:lastModifiedBy>
  <cp:revision>12</cp:revision>
  <dcterms:created xsi:type="dcterms:W3CDTF">2026-04-17T10:27:02Z</dcterms:created>
  <dcterms:modified xsi:type="dcterms:W3CDTF">2026-04-17T11:50:46Z</dcterms:modified>
</cp:coreProperties>
</file>